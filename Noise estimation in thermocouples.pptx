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0" r:id="rId5"/>
    <p:sldId id="263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Deepak Panwar" userId="5de4035b6fef79c8" providerId="LiveId" clId="{7F00EC2E-945B-4E2D-9850-08F474EFDEC1}"/>
    <pc:docChg chg="undo custSel addSld modSld sldOrd">
      <pc:chgData name="Mr. Deepak Panwar" userId="5de4035b6fef79c8" providerId="LiveId" clId="{7F00EC2E-945B-4E2D-9850-08F474EFDEC1}" dt="2026-03-11T11:28:02.340" v="414" actId="14100"/>
      <pc:docMkLst>
        <pc:docMk/>
      </pc:docMkLst>
      <pc:sldChg chg="addSp delSp modSp mod">
        <pc:chgData name="Mr. Deepak Panwar" userId="5de4035b6fef79c8" providerId="LiveId" clId="{7F00EC2E-945B-4E2D-9850-08F474EFDEC1}" dt="2026-03-11T10:41:47.840" v="243" actId="18131"/>
        <pc:sldMkLst>
          <pc:docMk/>
          <pc:sldMk cId="1260486906" sldId="257"/>
        </pc:sldMkLst>
        <pc:spChg chg="mod">
          <ac:chgData name="Mr. Deepak Panwar" userId="5de4035b6fef79c8" providerId="LiveId" clId="{7F00EC2E-945B-4E2D-9850-08F474EFDEC1}" dt="2026-03-11T10:04:33.822" v="159" actId="1076"/>
          <ac:spMkLst>
            <pc:docMk/>
            <pc:sldMk cId="1260486906" sldId="257"/>
            <ac:spMk id="5" creationId="{0E29A16E-8619-1625-3061-F403AB7077E5}"/>
          </ac:spMkLst>
        </pc:spChg>
        <pc:spChg chg="mod">
          <ac:chgData name="Mr. Deepak Panwar" userId="5de4035b6fef79c8" providerId="LiveId" clId="{7F00EC2E-945B-4E2D-9850-08F474EFDEC1}" dt="2026-03-11T10:04:21.682" v="158" actId="5793"/>
          <ac:spMkLst>
            <pc:docMk/>
            <pc:sldMk cId="1260486906" sldId="257"/>
            <ac:spMk id="6" creationId="{C738B08A-D6EC-58FF-525D-165E209E5838}"/>
          </ac:spMkLst>
        </pc:spChg>
        <pc:spChg chg="del">
          <ac:chgData name="Mr. Deepak Panwar" userId="5de4035b6fef79c8" providerId="LiveId" clId="{7F00EC2E-945B-4E2D-9850-08F474EFDEC1}" dt="2026-03-11T10:08:03.982" v="166" actId="21"/>
          <ac:spMkLst>
            <pc:docMk/>
            <pc:sldMk cId="1260486906" sldId="257"/>
            <ac:spMk id="7" creationId="{D8DC1059-B03E-927D-DA06-9FEFB8BABD57}"/>
          </ac:spMkLst>
        </pc:spChg>
        <pc:spChg chg="del mod">
          <ac:chgData name="Mr. Deepak Panwar" userId="5de4035b6fef79c8" providerId="LiveId" clId="{7F00EC2E-945B-4E2D-9850-08F474EFDEC1}" dt="2026-03-11T10:07:30.513" v="161" actId="21"/>
          <ac:spMkLst>
            <pc:docMk/>
            <pc:sldMk cId="1260486906" sldId="257"/>
            <ac:spMk id="8" creationId="{9BA7399A-AF1C-D472-CC1C-CBC079019F65}"/>
          </ac:spMkLst>
        </pc:spChg>
        <pc:picChg chg="add del mod">
          <ac:chgData name="Mr. Deepak Panwar" userId="5de4035b6fef79c8" providerId="LiveId" clId="{7F00EC2E-945B-4E2D-9850-08F474EFDEC1}" dt="2026-03-11T10:34:39.868" v="238" actId="21"/>
          <ac:picMkLst>
            <pc:docMk/>
            <pc:sldMk cId="1260486906" sldId="257"/>
            <ac:picMk id="9" creationId="{E7CF804E-2493-C08F-22D1-A809F115FC92}"/>
          </ac:picMkLst>
        </pc:picChg>
        <pc:picChg chg="add del mod">
          <ac:chgData name="Mr. Deepak Panwar" userId="5de4035b6fef79c8" providerId="LiveId" clId="{7F00EC2E-945B-4E2D-9850-08F474EFDEC1}" dt="2026-03-11T10:34:41.924" v="239" actId="21"/>
          <ac:picMkLst>
            <pc:docMk/>
            <pc:sldMk cId="1260486906" sldId="257"/>
            <ac:picMk id="11" creationId="{4A9F9AE2-F10B-0123-5455-754098C0CA49}"/>
          </ac:picMkLst>
        </pc:picChg>
        <pc:picChg chg="add mod modCrop">
          <ac:chgData name="Mr. Deepak Panwar" userId="5de4035b6fef79c8" providerId="LiveId" clId="{7F00EC2E-945B-4E2D-9850-08F474EFDEC1}" dt="2026-03-11T10:41:47.840" v="243" actId="18131"/>
          <ac:picMkLst>
            <pc:docMk/>
            <pc:sldMk cId="1260486906" sldId="257"/>
            <ac:picMk id="13" creationId="{17892E8F-0855-6EE0-40C2-9A98A17ED171}"/>
          </ac:picMkLst>
        </pc:picChg>
      </pc:sldChg>
      <pc:sldChg chg="addSp delSp modSp mod">
        <pc:chgData name="Mr. Deepak Panwar" userId="5de4035b6fef79c8" providerId="LiveId" clId="{7F00EC2E-945B-4E2D-9850-08F474EFDEC1}" dt="2026-03-11T11:28:02.340" v="414" actId="14100"/>
        <pc:sldMkLst>
          <pc:docMk/>
          <pc:sldMk cId="393903201" sldId="260"/>
        </pc:sldMkLst>
        <pc:spChg chg="mod">
          <ac:chgData name="Mr. Deepak Panwar" userId="5de4035b6fef79c8" providerId="LiveId" clId="{7F00EC2E-945B-4E2D-9850-08F474EFDEC1}" dt="2026-03-11T11:00:26.953" v="410" actId="14100"/>
          <ac:spMkLst>
            <pc:docMk/>
            <pc:sldMk cId="393903201" sldId="260"/>
            <ac:spMk id="2" creationId="{D548AB0C-294D-05D1-4296-585B951C7102}"/>
          </ac:spMkLst>
        </pc:spChg>
        <pc:spChg chg="mod">
          <ac:chgData name="Mr. Deepak Panwar" userId="5de4035b6fef79c8" providerId="LiveId" clId="{7F00EC2E-945B-4E2D-9850-08F474EFDEC1}" dt="2026-03-11T11:00:19.222" v="408" actId="14100"/>
          <ac:spMkLst>
            <pc:docMk/>
            <pc:sldMk cId="393903201" sldId="260"/>
            <ac:spMk id="4" creationId="{5A2D2035-21D5-2153-6A0F-12D076C1580B}"/>
          </ac:spMkLst>
        </pc:spChg>
        <pc:spChg chg="add mod">
          <ac:chgData name="Mr. Deepak Panwar" userId="5de4035b6fef79c8" providerId="LiveId" clId="{7F00EC2E-945B-4E2D-9850-08F474EFDEC1}" dt="2026-03-11T11:00:34.714" v="412" actId="1076"/>
          <ac:spMkLst>
            <pc:docMk/>
            <pc:sldMk cId="393903201" sldId="260"/>
            <ac:spMk id="8" creationId="{1A17252A-8103-D3A3-B414-D80432854858}"/>
          </ac:spMkLst>
        </pc:spChg>
        <pc:picChg chg="add mod">
          <ac:chgData name="Mr. Deepak Panwar" userId="5de4035b6fef79c8" providerId="LiveId" clId="{7F00EC2E-945B-4E2D-9850-08F474EFDEC1}" dt="2026-03-11T11:28:02.340" v="414" actId="14100"/>
          <ac:picMkLst>
            <pc:docMk/>
            <pc:sldMk cId="393903201" sldId="260"/>
            <ac:picMk id="5" creationId="{F3880FC5-A35B-C4FE-3DFB-0DAD46FA9C88}"/>
          </ac:picMkLst>
        </pc:picChg>
        <pc:picChg chg="add mod">
          <ac:chgData name="Mr. Deepak Panwar" userId="5de4035b6fef79c8" providerId="LiveId" clId="{7F00EC2E-945B-4E2D-9850-08F474EFDEC1}" dt="2026-03-11T10:58:29.620" v="392" actId="14100"/>
          <ac:picMkLst>
            <pc:docMk/>
            <pc:sldMk cId="393903201" sldId="260"/>
            <ac:picMk id="7" creationId="{81155CCE-B4D3-0840-DF79-FDF1A1DA73F5}"/>
          </ac:picMkLst>
        </pc:picChg>
        <pc:picChg chg="del">
          <ac:chgData name="Mr. Deepak Panwar" userId="5de4035b6fef79c8" providerId="LiveId" clId="{7F00EC2E-945B-4E2D-9850-08F474EFDEC1}" dt="2026-03-11T10:14:56.423" v="170" actId="21"/>
          <ac:picMkLst>
            <pc:docMk/>
            <pc:sldMk cId="393903201" sldId="260"/>
            <ac:picMk id="11" creationId="{F1C7E1B5-7389-144A-E854-3FB140E97DA9}"/>
          </ac:picMkLst>
        </pc:picChg>
        <pc:picChg chg="del">
          <ac:chgData name="Mr. Deepak Panwar" userId="5de4035b6fef79c8" providerId="LiveId" clId="{7F00EC2E-945B-4E2D-9850-08F474EFDEC1}" dt="2026-03-11T10:15:35.434" v="176" actId="21"/>
          <ac:picMkLst>
            <pc:docMk/>
            <pc:sldMk cId="393903201" sldId="260"/>
            <ac:picMk id="13" creationId="{1530E016-3F3F-4469-B9C4-5BE1214B503B}"/>
          </ac:picMkLst>
        </pc:picChg>
      </pc:sldChg>
      <pc:sldChg chg="ord">
        <pc:chgData name="Mr. Deepak Panwar" userId="5de4035b6fef79c8" providerId="LiveId" clId="{7F00EC2E-945B-4E2D-9850-08F474EFDEC1}" dt="2026-03-11T10:54:36.507" v="369"/>
        <pc:sldMkLst>
          <pc:docMk/>
          <pc:sldMk cId="610728443" sldId="261"/>
        </pc:sldMkLst>
      </pc:sldChg>
      <pc:sldChg chg="addSp modSp mod ord">
        <pc:chgData name="Mr. Deepak Panwar" userId="5de4035b6fef79c8" providerId="LiveId" clId="{7F00EC2E-945B-4E2D-9850-08F474EFDEC1}" dt="2026-03-11T10:54:34.239" v="367"/>
        <pc:sldMkLst>
          <pc:docMk/>
          <pc:sldMk cId="1907219363" sldId="262"/>
        </pc:sldMkLst>
        <pc:spChg chg="mod">
          <ac:chgData name="Mr. Deepak Panwar" userId="5de4035b6fef79c8" providerId="LiveId" clId="{7F00EC2E-945B-4E2D-9850-08F474EFDEC1}" dt="2026-03-11T10:52:48.301" v="265" actId="1076"/>
          <ac:spMkLst>
            <pc:docMk/>
            <pc:sldMk cId="1907219363" sldId="262"/>
            <ac:spMk id="2" creationId="{483A1AFD-CCC1-32EE-46BD-8F8D1ED25BA2}"/>
          </ac:spMkLst>
        </pc:spChg>
        <pc:spChg chg="add mod">
          <ac:chgData name="Mr. Deepak Panwar" userId="5de4035b6fef79c8" providerId="LiveId" clId="{7F00EC2E-945B-4E2D-9850-08F474EFDEC1}" dt="2026-03-11T10:53:01.985" v="268" actId="1076"/>
          <ac:spMkLst>
            <pc:docMk/>
            <pc:sldMk cId="1907219363" sldId="262"/>
            <ac:spMk id="3" creationId="{73EA86CD-2F4B-551F-E250-A87DE53E5ED1}"/>
          </ac:spMkLst>
        </pc:spChg>
        <pc:spChg chg="mod">
          <ac:chgData name="Mr. Deepak Panwar" userId="5de4035b6fef79c8" providerId="LiveId" clId="{7F00EC2E-945B-4E2D-9850-08F474EFDEC1}" dt="2026-03-11T10:53:36.069" v="361" actId="20577"/>
          <ac:spMkLst>
            <pc:docMk/>
            <pc:sldMk cId="1907219363" sldId="262"/>
            <ac:spMk id="5" creationId="{5D789B95-D271-9BD5-53A0-C421275C6862}"/>
          </ac:spMkLst>
        </pc:spChg>
      </pc:sldChg>
      <pc:sldChg chg="ord">
        <pc:chgData name="Mr. Deepak Panwar" userId="5de4035b6fef79c8" providerId="LiveId" clId="{7F00EC2E-945B-4E2D-9850-08F474EFDEC1}" dt="2026-03-11T10:54:18.647" v="363"/>
        <pc:sldMkLst>
          <pc:docMk/>
          <pc:sldMk cId="2415358969" sldId="263"/>
        </pc:sldMkLst>
      </pc:sldChg>
      <pc:sldChg chg="ord">
        <pc:chgData name="Mr. Deepak Panwar" userId="5de4035b6fef79c8" providerId="LiveId" clId="{7F00EC2E-945B-4E2D-9850-08F474EFDEC1}" dt="2026-03-11T10:54:30.300" v="365"/>
        <pc:sldMkLst>
          <pc:docMk/>
          <pc:sldMk cId="1386828155" sldId="264"/>
        </pc:sldMkLst>
      </pc:sldChg>
      <pc:sldChg chg="addSp delSp modSp new mod">
        <pc:chgData name="Mr. Deepak Panwar" userId="5de4035b6fef79c8" providerId="LiveId" clId="{7F00EC2E-945B-4E2D-9850-08F474EFDEC1}" dt="2026-03-11T10:26:31.221" v="225" actId="122"/>
        <pc:sldMkLst>
          <pc:docMk/>
          <pc:sldMk cId="2477666174" sldId="265"/>
        </pc:sldMkLst>
        <pc:spChg chg="mod">
          <ac:chgData name="Mr. Deepak Panwar" userId="5de4035b6fef79c8" providerId="LiveId" clId="{7F00EC2E-945B-4E2D-9850-08F474EFDEC1}" dt="2026-03-11T10:23:32.084" v="219" actId="1076"/>
          <ac:spMkLst>
            <pc:docMk/>
            <pc:sldMk cId="2477666174" sldId="265"/>
            <ac:spMk id="2" creationId="{39863351-FC4F-A4AA-57FF-E127533F8993}"/>
          </ac:spMkLst>
        </pc:spChg>
        <pc:spChg chg="del mod">
          <ac:chgData name="Mr. Deepak Panwar" userId="5de4035b6fef79c8" providerId="LiveId" clId="{7F00EC2E-945B-4E2D-9850-08F474EFDEC1}" dt="2026-03-11T10:20:25.761" v="187"/>
          <ac:spMkLst>
            <pc:docMk/>
            <pc:sldMk cId="2477666174" sldId="265"/>
            <ac:spMk id="3" creationId="{559D110D-4A18-7BA5-9299-DD5C4FEDC292}"/>
          </ac:spMkLst>
        </pc:spChg>
        <pc:spChg chg="add mod">
          <ac:chgData name="Mr. Deepak Panwar" userId="5de4035b6fef79c8" providerId="LiveId" clId="{7F00EC2E-945B-4E2D-9850-08F474EFDEC1}" dt="2026-03-11T10:23:34.315" v="220" actId="1076"/>
          <ac:spMkLst>
            <pc:docMk/>
            <pc:sldMk cId="2477666174" sldId="265"/>
            <ac:spMk id="4" creationId="{A7BAD45A-D2A3-9EB3-B3A8-B15FD00A3DEA}"/>
          </ac:spMkLst>
        </pc:spChg>
        <pc:spChg chg="add mod">
          <ac:chgData name="Mr. Deepak Panwar" userId="5de4035b6fef79c8" providerId="LiveId" clId="{7F00EC2E-945B-4E2D-9850-08F474EFDEC1}" dt="2026-03-11T10:23:18.336" v="214" actId="1076"/>
          <ac:spMkLst>
            <pc:docMk/>
            <pc:sldMk cId="2477666174" sldId="265"/>
            <ac:spMk id="7" creationId="{D8DC1059-B03E-927D-DA06-9FEFB8BABD57}"/>
          </ac:spMkLst>
        </pc:spChg>
        <pc:spChg chg="add mod">
          <ac:chgData name="Mr. Deepak Panwar" userId="5de4035b6fef79c8" providerId="LiveId" clId="{7F00EC2E-945B-4E2D-9850-08F474EFDEC1}" dt="2026-03-11T10:23:15.634" v="213" actId="1076"/>
          <ac:spMkLst>
            <pc:docMk/>
            <pc:sldMk cId="2477666174" sldId="265"/>
            <ac:spMk id="8" creationId="{9BA7399A-AF1C-D472-CC1C-CBC079019F65}"/>
          </ac:spMkLst>
        </pc:spChg>
        <pc:graphicFrameChg chg="add mod modGraphic">
          <ac:chgData name="Mr. Deepak Panwar" userId="5de4035b6fef79c8" providerId="LiveId" clId="{7F00EC2E-945B-4E2D-9850-08F474EFDEC1}" dt="2026-03-11T10:21:57.129" v="200" actId="14100"/>
          <ac:graphicFrameMkLst>
            <pc:docMk/>
            <pc:sldMk cId="2477666174" sldId="265"/>
            <ac:graphicFrameMk id="5" creationId="{05A6B227-01F2-E55B-32B4-8093D073DE36}"/>
          </ac:graphicFrameMkLst>
        </pc:graphicFrameChg>
        <pc:graphicFrameChg chg="add mod modGraphic">
          <ac:chgData name="Mr. Deepak Panwar" userId="5de4035b6fef79c8" providerId="LiveId" clId="{7F00EC2E-945B-4E2D-9850-08F474EFDEC1}" dt="2026-03-11T10:26:31.221" v="225" actId="122"/>
          <ac:graphicFrameMkLst>
            <pc:docMk/>
            <pc:sldMk cId="2477666174" sldId="265"/>
            <ac:graphicFrameMk id="6" creationId="{D7D0A2D9-2616-00EC-54B7-EC3176DDC412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D990F-8DDC-5115-B0FD-D85A58A58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643B4-4725-1999-4924-D44356476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FD7FB-3D24-EB63-952D-C54EA809C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D650-6485-4536-BC16-0814D02373B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EA44A-27EF-3EC6-3C34-A0CC4C6C1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5C418-F8CD-BEA3-9A17-390898ECA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3CFB-C267-4426-94E1-A70BDBFB0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8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E48B6-FA70-4A0A-5E15-EFB550D93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30823-2FB2-0178-7E93-5FEB45828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3F9C5-6ADB-48D6-2A9B-075E33319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D650-6485-4536-BC16-0814D02373B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7BB71-40E4-62A9-ACD6-F90641049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74DFA-FA6A-2B8E-CA4A-463083E3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3CFB-C267-4426-94E1-A70BDBFB0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44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00945-35F4-A2DA-DD82-3629E70A3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15F96-F964-E418-2248-B62F5BEF3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4E65C-3702-C8E7-86F6-E1F4919DF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D650-6485-4536-BC16-0814D02373B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F053A-F8B0-FF7F-4C56-82BFC251E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2235C-4512-5712-721A-FA23A857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3CFB-C267-4426-94E1-A70BDBFB0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43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062D3-5AFA-B323-D782-4A954C4DA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253BB-0BF8-F08E-DF61-59D0BF3F75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54FB9-9DE5-298A-E554-F9880D3B0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83145-E380-135B-CC91-9851D356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D650-6485-4536-BC16-0814D02373B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A75B0-C1A8-B2B7-408B-E936F9FE2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08163-6457-07AC-EB14-34E6BEF97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3CFB-C267-4426-94E1-A70BDBFB0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4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50362-8F1B-965C-A78E-51810663B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C1E11-D8D7-1E13-928C-134C513A1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E619E-5CFE-32DD-801D-E66ACA9DB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D6588-B6A2-222E-609D-BFD236F404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B97B1-9D6C-B338-32AC-73A8CB95F9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13C2E2-9298-C0A5-740C-E72D6BC6D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D650-6485-4536-BC16-0814D02373B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06745C-96B7-0B43-402E-2ACD4619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CE9809-6DED-4027-3124-D962F8C98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3CFB-C267-4426-94E1-A70BDBFB0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373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C88B0-6632-6B63-37E0-8F54731BA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F94A54-2C48-174B-A09F-37CC434EF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D650-6485-4536-BC16-0814D02373B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52BF5-A360-5017-7804-B073FAA09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7FDAEC-3053-0846-4437-BBA38C2DC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3CFB-C267-4426-94E1-A70BDBFB0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38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30CED0-4474-C7B8-FCBD-2CA617FA6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D650-6485-4536-BC16-0814D02373B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C2CB9A-038C-8440-8959-D5B861B5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A97FC-91AE-AA46-2DDB-64D91CB93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3CFB-C267-4426-94E1-A70BDBFB0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27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A6C92-5937-057B-E843-9862B9D67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322FE-AF50-B47E-C204-AD5841C5A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B289DE-6B1F-E10C-C9D9-315DB5D23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053D6-FE73-6B3B-6E03-9EADEDB6D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D650-6485-4536-BC16-0814D02373B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8FCB0-FBE6-69DD-5365-2B7C49F0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427B6-22E1-F85D-B4FD-F7BD67F06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3CFB-C267-4426-94E1-A70BDBFB0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321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3A37-DBDB-3654-4C94-6F1444349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23A540-C4E1-7A4F-65F1-352696FCA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2A23A-1D89-2891-37C3-DAEBC6C93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546A9-8B1D-0AEA-751E-DECD4B7B4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D650-6485-4536-BC16-0814D02373B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145A6-CD57-57C5-6B1E-6644D4723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63FE7-619B-B931-AFEB-2B4903AD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3CFB-C267-4426-94E1-A70BDBFB0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279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DE2C-2EDF-84BF-6B25-2575F36E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DE486-893C-BD47-2432-737AC5724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2FBEF-23C0-F8E5-3C89-1A4872883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D650-6485-4536-BC16-0814D02373B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8169E-7D58-99B2-5F66-DDACA6231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78AF9-4297-A5F9-A7B2-E4F2B25B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3CFB-C267-4426-94E1-A70BDBFB0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32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5BEFD5-3050-84C2-8AFE-8D6DAFFBA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6F8BA-E606-58AE-E314-A82F4F12F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FBBBE-21E9-3330-0BF4-A4E98ADD9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D650-6485-4536-BC16-0814D02373B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7245B-D2A0-F004-CBE1-8E1444EA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06F5D-386C-A0FD-EF38-DA6B22D8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3CFB-C267-4426-94E1-A70BDBFB0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530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FECF7-2600-16A0-06BC-3B5CD923B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CAB25-9372-EFB9-6383-E6A0AA613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8D2B1-113B-7BC2-7750-419AED063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8D650-6485-4536-BC16-0814D02373B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F730E-2AA7-6362-9206-6F0F3F005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23AC9-056D-6998-01E1-4B606FC04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C3CFB-C267-4426-94E1-A70BDBFB0B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830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83136-E1ED-8063-24AA-D8320E1E6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529" y="2174833"/>
            <a:ext cx="9144000" cy="2387600"/>
          </a:xfrm>
        </p:spPr>
        <p:txBody>
          <a:bodyPr>
            <a:normAutofit/>
          </a:bodyPr>
          <a:lstStyle/>
          <a:p>
            <a:r>
              <a:rPr lang="en-IN" b="1" dirty="0"/>
              <a:t>Title:</a:t>
            </a:r>
            <a:r>
              <a:rPr lang="en-IN" dirty="0"/>
              <a:t> Noise estimation in thermocouples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B7BFF-59A9-9797-FCA6-BD6CFCF4B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3167"/>
            <a:ext cx="9144000" cy="450307"/>
          </a:xfrm>
        </p:spPr>
        <p:txBody>
          <a:bodyPr/>
          <a:lstStyle/>
          <a:p>
            <a:r>
              <a:rPr lang="en-US" b="1" dirty="0"/>
              <a:t>Subtitle:</a:t>
            </a:r>
            <a:r>
              <a:rPr lang="en-US" dirty="0"/>
              <a:t> Precision EMF Monitoring and Uncertainty Quantification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839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AF410-EF27-32C1-7711-7FF525301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7" y="218309"/>
            <a:ext cx="3930445" cy="512739"/>
          </a:xfrm>
        </p:spPr>
        <p:txBody>
          <a:bodyPr>
            <a:normAutofit/>
          </a:bodyPr>
          <a:lstStyle/>
          <a:p>
            <a:r>
              <a:rPr lang="en-IN" sz="2000" dirty="0"/>
              <a:t>Metrological Framework (ISO GUM)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6CB1593C-420E-729C-B237-B64D0895E27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523567" y="731048"/>
                <a:ext cx="6221362" cy="25391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Objective: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To </a:t>
                </a:r>
                <a:r>
                  <a:rPr kumimoji="0" lang="en-US" altLang="en-US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categorise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and isolate signal deviations to establish a sensor uncertainty budget.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Error Types: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Systematic Error: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Fixed calibration offset (removed via centering).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Random Error: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High-frequency noise fluctuations (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IN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kumimoji="0" lang="en-IN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).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Drift Error: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Slow variations due to environmental changes.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6CB1593C-420E-729C-B237-B64D0895E2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523567" y="731048"/>
                <a:ext cx="6221362" cy="2539157"/>
              </a:xfrm>
              <a:prstGeom prst="rect">
                <a:avLst/>
              </a:prstGeom>
              <a:blipFill>
                <a:blip r:embed="rId2"/>
                <a:stretch>
                  <a:fillRect l="-882" t="-26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0E29A16E-8619-1625-3061-F403AB7077E5}"/>
              </a:ext>
            </a:extLst>
          </p:cNvPr>
          <p:cNvSpPr txBox="1">
            <a:spLocks/>
          </p:cNvSpPr>
          <p:nvPr/>
        </p:nvSpPr>
        <p:spPr>
          <a:xfrm>
            <a:off x="376087" y="3170132"/>
            <a:ext cx="2347453" cy="3097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/>
              <a:t>Experimental Setup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738B08A-D6EC-58FF-525D-165E209E5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087" y="3532985"/>
            <a:ext cx="6368842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Google Sans Text"/>
              </a:rPr>
              <a:t>Sensor Selection:</a:t>
            </a:r>
            <a:r>
              <a:rPr lang="en-US" altLang="en-US" sz="1800" dirty="0">
                <a:latin typeface="Google Sans Text"/>
              </a:rPr>
              <a:t> Pooled resources of Type S (Platinum Rhodium – 10% / Platinum), Type K (Nickel – Chromium / Nickel – </a:t>
            </a:r>
            <a:r>
              <a:rPr lang="en-US" altLang="en-US" sz="1800" dirty="0" err="1">
                <a:latin typeface="Google Sans Text"/>
              </a:rPr>
              <a:t>Alumel</a:t>
            </a:r>
            <a:r>
              <a:rPr lang="en-US" altLang="en-US" sz="1800" dirty="0">
                <a:latin typeface="Google Sans Text"/>
              </a:rPr>
              <a:t>), and Type N (</a:t>
            </a:r>
            <a:r>
              <a:rPr lang="en-US" altLang="en-US" sz="1800" dirty="0" err="1">
                <a:latin typeface="Google Sans Text"/>
              </a:rPr>
              <a:t>Nicrosil</a:t>
            </a:r>
            <a:r>
              <a:rPr lang="en-US" altLang="en-US" sz="1800" dirty="0">
                <a:latin typeface="Google Sans Text"/>
              </a:rPr>
              <a:t>/Nisil) (Quantity: 2).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Google Sans Text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Google Sans Text"/>
              </a:rPr>
              <a:t>Configuration:</a:t>
            </a:r>
            <a:r>
              <a:rPr lang="en-US" altLang="en-US" sz="1800" dirty="0">
                <a:latin typeface="Google Sans Text"/>
              </a:rPr>
              <a:t> Measurement performed </a:t>
            </a:r>
            <a:r>
              <a:rPr lang="en-US" altLang="en-US" sz="1800" b="1" dirty="0">
                <a:latin typeface="Google Sans Text"/>
              </a:rPr>
              <a:t>without a Cold Junction</a:t>
            </a:r>
            <a:r>
              <a:rPr lang="en-US" altLang="en-US" sz="1800" dirty="0">
                <a:latin typeface="Google Sans Text"/>
              </a:rPr>
              <a:t> to </a:t>
            </a:r>
            <a:r>
              <a:rPr lang="en-US" altLang="en-US" sz="1800" dirty="0" err="1">
                <a:latin typeface="Google Sans Text"/>
              </a:rPr>
              <a:t>analyse</a:t>
            </a:r>
            <a:r>
              <a:rPr lang="en-US" altLang="en-US" sz="1800" dirty="0">
                <a:latin typeface="Google Sans Text"/>
              </a:rPr>
              <a:t> raw EMF sensitivity.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Google Sans Text"/>
              </a:rPr>
              <a:t>Environmental Control:</a:t>
            </a:r>
            <a:r>
              <a:rPr lang="en-US" altLang="en-US" sz="1800" dirty="0">
                <a:latin typeface="Google Sans Text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Google Sans Text"/>
              </a:rPr>
              <a:t>Temperature: 24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±</a:t>
            </a:r>
            <a:r>
              <a:rPr lang="en-US" altLang="en-US" sz="1800" dirty="0">
                <a:latin typeface="Google Sans Text"/>
              </a:rPr>
              <a:t> 2°C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Google Sans Text"/>
              </a:rPr>
              <a:t>Humidity: 50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±</a:t>
            </a:r>
            <a:r>
              <a:rPr lang="en-US" altLang="en-US" sz="1800" dirty="0">
                <a:latin typeface="Google Sans Text"/>
              </a:rPr>
              <a:t> 5 % RH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Google Sans Text"/>
              </a:rPr>
              <a:t>Goal:</a:t>
            </a:r>
            <a:r>
              <a:rPr lang="en-US" altLang="en-US" sz="1800" dirty="0">
                <a:latin typeface="Google Sans Text"/>
              </a:rPr>
              <a:t> Identify noise signatures to refine the measurement model equation.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892E8F-0855-6EE0-40C2-9A98A17ED1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695"/>
          <a:stretch>
            <a:fillRect/>
          </a:stretch>
        </p:blipFill>
        <p:spPr>
          <a:xfrm>
            <a:off x="7583712" y="731048"/>
            <a:ext cx="4084721" cy="544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86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3351-FC4F-A4AA-57FF-E127533F8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1769" y="192439"/>
            <a:ext cx="4069080" cy="494506"/>
          </a:xfrm>
        </p:spPr>
        <p:txBody>
          <a:bodyPr>
            <a:normAutofit/>
          </a:bodyPr>
          <a:lstStyle/>
          <a:p>
            <a:r>
              <a:rPr lang="en-US" sz="2000" dirty="0"/>
              <a:t>Why use this specific equation?</a:t>
            </a:r>
            <a:endParaRPr lang="en-IN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9BA7399A-AF1C-D472-CC1C-CBC079019F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406" y="968913"/>
                <a:ext cx="4333568" cy="59897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800" b="1" dirty="0">
                    <a:latin typeface="Google Sans Text"/>
                  </a:rPr>
                  <a:t>The Problem:</a:t>
                </a:r>
                <a:r>
                  <a:rPr lang="en-US" altLang="en-US" sz="1800" dirty="0">
                    <a:latin typeface="Google Sans Text"/>
                  </a:rPr>
                  <a:t> Traditional "Moving Averages" are linear; they either leave noise or distort the real thermal signal.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800" b="1" dirty="0">
                    <a:latin typeface="Google Sans Text"/>
                  </a:rPr>
                  <a:t>The EMD Solution:</a:t>
                </a:r>
                <a:r>
                  <a:rPr lang="en-US" altLang="en-US" sz="1800" dirty="0">
                    <a:latin typeface="Google Sans Text"/>
                  </a:rPr>
                  <a:t> An adaptive, non-linear process that decomposes a signal x(t) into Intrinsic Mode Functions (IMFs).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800" b="1" dirty="0">
                    <a:latin typeface="Google Sans Text"/>
                  </a:rPr>
                  <a:t>Key Equation:</a:t>
                </a:r>
                <a:endParaRPr lang="en-US" sz="1800" dirty="0"/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1800" dirty="0">
                  <a:latin typeface="Google Sans Text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1800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IN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1800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800" dirty="0"/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1800" dirty="0">
                  <a:latin typeface="Google Sans Text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alt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alt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altLang="en-US" sz="18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IN" altLang="en-US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alt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 dirty="0">
                    <a:latin typeface="Google Sans Text"/>
                  </a:rPr>
                  <a:t> = are the individual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altLang="en-US" sz="1800" i="1">
                            <a:latin typeface="Cambria Math" panose="02040503050406030204" pitchFamily="18" charset="0"/>
                          </a:rPr>
                          <m:t>𝐼𝑀𝐹</m:t>
                        </m:r>
                      </m:e>
                      <m:sub>
                        <m:r>
                          <a:rPr lang="en-IN" altLang="en-US" sz="1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altLang="en-US" sz="18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  <m:r>
                      <a:rPr lang="en-IN" alt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altLang="en-US" sz="1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altLang="en-US" sz="1800" b="0" i="0" smtClean="0">
                        <a:latin typeface="Cambria Math" panose="02040503050406030204" pitchFamily="18" charset="0"/>
                      </a:rPr>
                      <m:t>Intrinsic</m:t>
                    </m:r>
                    <m:r>
                      <a:rPr lang="en-IN" alt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altLang="en-US" sz="1800" b="0" i="0" smtClean="0">
                        <a:latin typeface="Cambria Math" panose="02040503050406030204" pitchFamily="18" charset="0"/>
                      </a:rPr>
                      <m:t>Mode</m:t>
                    </m:r>
                    <m:r>
                      <a:rPr lang="en-IN" alt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altLang="en-US" sz="1800" b="0" i="0" smtClean="0">
                        <a:latin typeface="Cambria Math" panose="02040503050406030204" pitchFamily="18" charset="0"/>
                      </a:rPr>
                      <m:t>Functions</m:t>
                    </m:r>
                    <m:r>
                      <a:rPr lang="en-IN" altLang="en-US" sz="18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 dirty="0">
                    <a:latin typeface="Google Sans Text"/>
                  </a:rPr>
                  <a:t>.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alt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altLang="en-US" sz="18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IN" altLang="en-US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alt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 dirty="0">
                    <a:latin typeface="Google Sans Text"/>
                  </a:rPr>
                  <a:t> =is the residue(the final monotonic trend)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1800" dirty="0">
                  <a:latin typeface="Google Sans Text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</a:pPr>
                <a:r>
                  <a:rPr lang="en-US" sz="1800" b="1" dirty="0"/>
                  <a:t>Ref:</a:t>
                </a:r>
                <a:r>
                  <a:rPr lang="en-US" sz="1800" dirty="0"/>
                  <a:t> </a:t>
                </a:r>
                <a:r>
                  <a:rPr lang="en-US" sz="1800" i="1" dirty="0"/>
                  <a:t>As detailed in "Fault detection in thermocouples: Unveiling anomalies with machine learning and signal processing" for isolating sensor-level artifacts.</a:t>
                </a:r>
                <a:endParaRPr lang="en-US" altLang="en-US" sz="1800" dirty="0">
                  <a:latin typeface="Google Sans Text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en-US" sz="1800" dirty="0"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9BA7399A-AF1C-D472-CC1C-CBC079019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406" y="968913"/>
                <a:ext cx="4333568" cy="5989781"/>
              </a:xfrm>
              <a:prstGeom prst="rect">
                <a:avLst/>
              </a:prstGeom>
              <a:blipFill>
                <a:blip r:embed="rId2"/>
                <a:stretch>
                  <a:fillRect l="-1266" t="-814" r="-5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D8DC1059-B03E-927D-DA06-9FEFB8BABD57}"/>
              </a:ext>
            </a:extLst>
          </p:cNvPr>
          <p:cNvSpPr txBox="1">
            <a:spLocks/>
          </p:cNvSpPr>
          <p:nvPr/>
        </p:nvSpPr>
        <p:spPr>
          <a:xfrm>
            <a:off x="474406" y="192439"/>
            <a:ext cx="4286864" cy="512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/>
              <a:t>Methodology – Why Empirical Mode Decomposition (EMD)?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BAD45A-D2A3-9EB3-B3A8-B15FD00A3D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71769" y="822117"/>
            <a:ext cx="599866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Non-Stationarity: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Thermocouple data in a lab environment is often non-stationary (the mean and variance change over time). EMD does not assume a fixed frequency, unlike Fourier Transforms.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Filtering: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Unlike a "Moving Average" which uses a fixed window, EMD "sifts" the signal based on its own local maxima and minima.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7D0A2D9-2616-00EC-54B7-EC3176DDC4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9033144"/>
                  </p:ext>
                </p:extLst>
              </p:nvPr>
            </p:nvGraphicFramePr>
            <p:xfrm>
              <a:off x="5171769" y="3567500"/>
              <a:ext cx="6803922" cy="3094130"/>
            </p:xfrm>
            <a:graphic>
              <a:graphicData uri="http://schemas.openxmlformats.org/drawingml/2006/table">
                <a:tbl>
                  <a:tblPr/>
                  <a:tblGrid>
                    <a:gridCol w="2267974">
                      <a:extLst>
                        <a:ext uri="{9D8B030D-6E8A-4147-A177-3AD203B41FA5}">
                          <a16:colId xmlns:a16="http://schemas.microsoft.com/office/drawing/2014/main" val="2768334146"/>
                        </a:ext>
                      </a:extLst>
                    </a:gridCol>
                    <a:gridCol w="2267974">
                      <a:extLst>
                        <a:ext uri="{9D8B030D-6E8A-4147-A177-3AD203B41FA5}">
                          <a16:colId xmlns:a16="http://schemas.microsoft.com/office/drawing/2014/main" val="357436563"/>
                        </a:ext>
                      </a:extLst>
                    </a:gridCol>
                    <a:gridCol w="2267974">
                      <a:extLst>
                        <a:ext uri="{9D8B030D-6E8A-4147-A177-3AD203B41FA5}">
                          <a16:colId xmlns:a16="http://schemas.microsoft.com/office/drawing/2014/main" val="1182102922"/>
                        </a:ext>
                      </a:extLst>
                    </a:gridCol>
                  </a:tblGrid>
                  <a:tr h="505576"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IN" sz="1800" dirty="0">
                              <a:effectLst/>
                            </a:rPr>
                            <a:t>Mathematical Component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IN" sz="1800">
                              <a:effectLst/>
                            </a:rPr>
                            <a:t>Python Implementation Code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IN" sz="1800" dirty="0">
                              <a:effectLst/>
                            </a:rPr>
                            <a:t>Purpose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604F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2159082"/>
                      </a:ext>
                    </a:extLst>
                  </a:tr>
                  <a:tr h="505576"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IN" sz="1800">
                              <a:effectLst/>
                            </a:rPr>
                            <a:t>Summation ∑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IN" sz="1800">
                              <a:effectLst/>
                            </a:rPr>
                            <a:t>imfs = emd(signal_cleaned)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604F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Decomposes the signal into a matrix of IMFs.</a:t>
                          </a:r>
                        </a:p>
                      </a:txBody>
                      <a:tcPr marL="0" marR="0" marT="7661" marB="7661" anchor="b">
                        <a:lnL w="7620" cap="flat" cmpd="sng" algn="ctr">
                          <a:solidFill>
                            <a:srgbClr val="604F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604F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604F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604A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8959991"/>
                      </a:ext>
                    </a:extLst>
                  </a:tr>
                  <a:tr h="505576"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IN" sz="1800" dirty="0">
                              <a:effectLst/>
                            </a:rPr>
                            <a:t>Noise Component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altLang="en-US" sz="1800" i="1">
                                      <a:latin typeface="Cambria Math" panose="02040503050406030204" pitchFamily="18" charset="0"/>
                                    </a:rPr>
                                    <m:t>𝐼𝑀𝐹</m:t>
                                  </m:r>
                                </m:e>
                                <m:sub>
                                  <m:r>
                                    <a:rPr lang="en-IN" altLang="en-US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IN" altLang="en-US" sz="1800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</m:oMath>
                          </a14:m>
                          <a:endParaRPr lang="en-IN" sz="1800" dirty="0">
                            <a:effectLst/>
                          </a:endParaRP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IN" sz="1800" dirty="0" err="1">
                              <a:effectLst/>
                            </a:rPr>
                            <a:t>noise_imf</a:t>
                          </a:r>
                          <a:r>
                            <a:rPr lang="en-IN" sz="1800" dirty="0">
                              <a:effectLst/>
                            </a:rPr>
                            <a:t> = </a:t>
                          </a:r>
                          <a:r>
                            <a:rPr lang="en-IN" sz="1800" dirty="0" err="1">
                              <a:effectLst/>
                            </a:rPr>
                            <a:t>imfs</a:t>
                          </a:r>
                          <a:r>
                            <a:rPr lang="en-IN" sz="1800" dirty="0">
                              <a:effectLst/>
                            </a:rPr>
                            <a:t>[0]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604A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IN" sz="1800">
                              <a:effectLst/>
                            </a:rPr>
                            <a:t>Isolates high-frequency random errors.</a:t>
                          </a:r>
                        </a:p>
                      </a:txBody>
                      <a:tcPr marL="0" marR="0" marT="7661" marB="7661" anchor="b">
                        <a:lnL w="7620" cap="flat" cmpd="sng" algn="ctr">
                          <a:solidFill>
                            <a:srgbClr val="604A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604A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604A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058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3624713"/>
                      </a:ext>
                    </a:extLst>
                  </a:tr>
                  <a:tr h="498067"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IN" sz="1800" dirty="0">
                              <a:effectLst/>
                            </a:rPr>
                            <a:t>Residual Trend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altLang="en-US" sz="1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altLang="en-US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800" dirty="0">
                              <a:effectLst/>
                            </a:rPr>
                            <a:t>)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IN" sz="1800" dirty="0">
                              <a:effectLst/>
                            </a:rPr>
                            <a:t>residue = </a:t>
                          </a:r>
                          <a:r>
                            <a:rPr lang="en-IN" sz="1800" dirty="0" err="1">
                              <a:effectLst/>
                            </a:rPr>
                            <a:t>imfs</a:t>
                          </a:r>
                          <a:r>
                            <a:rPr lang="en-IN" sz="1800" dirty="0">
                              <a:effectLst/>
                            </a:rPr>
                            <a:t>[-1]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058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US" sz="1800" dirty="0">
                              <a:effectLst/>
                            </a:rPr>
                            <a:t>Captures the slow thermal drift.</a:t>
                          </a:r>
                        </a:p>
                      </a:txBody>
                      <a:tcPr marL="0" marR="0" marT="7661" marB="7661" anchor="b">
                        <a:lnL w="7620" cap="flat" cmpd="sng" algn="ctr">
                          <a:solidFill>
                            <a:srgbClr val="C058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058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058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E051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0461475"/>
                      </a:ext>
                    </a:extLst>
                  </a:tr>
                  <a:tr h="671021"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IN" sz="1800" dirty="0">
                              <a:effectLst/>
                            </a:rPr>
                            <a:t>RMS Quantification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IN" sz="1800">
                              <a:effectLst/>
                            </a:rPr>
                            <a:t>np.sqrt(np.mean(noise_imf**2))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E051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US" sz="1800" dirty="0">
                              <a:effectLst/>
                            </a:rPr>
                            <a:t>Converts the IMF1​ oscillation into a single noise floor value.</a:t>
                          </a:r>
                        </a:p>
                      </a:txBody>
                      <a:tcPr marL="0" marR="0" marT="7661" marB="7661" anchor="b">
                        <a:lnL w="7620" cap="flat" cmpd="sng" algn="ctr">
                          <a:solidFill>
                            <a:srgbClr val="E051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E051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E051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E051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559562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7D0A2D9-2616-00EC-54B7-EC3176DDC4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9033144"/>
                  </p:ext>
                </p:extLst>
              </p:nvPr>
            </p:nvGraphicFramePr>
            <p:xfrm>
              <a:off x="5171769" y="3567500"/>
              <a:ext cx="6803922" cy="3094130"/>
            </p:xfrm>
            <a:graphic>
              <a:graphicData uri="http://schemas.openxmlformats.org/drawingml/2006/table">
                <a:tbl>
                  <a:tblPr/>
                  <a:tblGrid>
                    <a:gridCol w="2267974">
                      <a:extLst>
                        <a:ext uri="{9D8B030D-6E8A-4147-A177-3AD203B41FA5}">
                          <a16:colId xmlns:a16="http://schemas.microsoft.com/office/drawing/2014/main" val="2768334146"/>
                        </a:ext>
                      </a:extLst>
                    </a:gridCol>
                    <a:gridCol w="2267974">
                      <a:extLst>
                        <a:ext uri="{9D8B030D-6E8A-4147-A177-3AD203B41FA5}">
                          <a16:colId xmlns:a16="http://schemas.microsoft.com/office/drawing/2014/main" val="357436563"/>
                        </a:ext>
                      </a:extLst>
                    </a:gridCol>
                    <a:gridCol w="2267974">
                      <a:extLst>
                        <a:ext uri="{9D8B030D-6E8A-4147-A177-3AD203B41FA5}">
                          <a16:colId xmlns:a16="http://schemas.microsoft.com/office/drawing/2014/main" val="1182102922"/>
                        </a:ext>
                      </a:extLst>
                    </a:gridCol>
                  </a:tblGrid>
                  <a:tr h="563962"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IN" sz="1800" dirty="0">
                              <a:effectLst/>
                            </a:rPr>
                            <a:t>Mathematical Component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IN" sz="1800">
                              <a:effectLst/>
                            </a:rPr>
                            <a:t>Python Implementation Code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>
                            <a:buNone/>
                          </a:pPr>
                          <a:r>
                            <a:rPr lang="en-IN" sz="1800" dirty="0">
                              <a:effectLst/>
                            </a:rPr>
                            <a:t>Purpose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604F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2159082"/>
                      </a:ext>
                    </a:extLst>
                  </a:tr>
                  <a:tr h="563962"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IN" sz="1800">
                              <a:effectLst/>
                            </a:rPr>
                            <a:t>Summation ∑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IN" sz="1800">
                              <a:effectLst/>
                            </a:rPr>
                            <a:t>imfs = emd(signal_cleaned)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604F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Decomposes the signal into a matrix of IMFs.</a:t>
                          </a:r>
                        </a:p>
                      </a:txBody>
                      <a:tcPr marL="0" marR="0" marT="7661" marB="7661" anchor="b">
                        <a:lnL w="7620" cap="flat" cmpd="sng" algn="ctr">
                          <a:solidFill>
                            <a:srgbClr val="604F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604F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604F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604A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8959991"/>
                      </a:ext>
                    </a:extLst>
                  </a:tr>
                  <a:tr h="5639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9" t="-211828" r="-200538" b="-27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IN" sz="1800" dirty="0" err="1">
                              <a:effectLst/>
                            </a:rPr>
                            <a:t>noise_imf</a:t>
                          </a:r>
                          <a:r>
                            <a:rPr lang="en-IN" sz="1800" dirty="0">
                              <a:effectLst/>
                            </a:rPr>
                            <a:t> = </a:t>
                          </a:r>
                          <a:r>
                            <a:rPr lang="en-IN" sz="1800" dirty="0" err="1">
                              <a:effectLst/>
                            </a:rPr>
                            <a:t>imfs</a:t>
                          </a:r>
                          <a:r>
                            <a:rPr lang="en-IN" sz="1800" dirty="0">
                              <a:effectLst/>
                            </a:rPr>
                            <a:t>[0]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604A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IN" sz="1800">
                              <a:effectLst/>
                            </a:rPr>
                            <a:t>Isolates high-frequency random errors.</a:t>
                          </a:r>
                        </a:p>
                      </a:txBody>
                      <a:tcPr marL="0" marR="0" marT="7661" marB="7661" anchor="b">
                        <a:lnL w="7620" cap="flat" cmpd="sng" algn="ctr">
                          <a:solidFill>
                            <a:srgbClr val="604A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604A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604A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058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3624713"/>
                      </a:ext>
                    </a:extLst>
                  </a:tr>
                  <a:tr h="5639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9" t="-315217" r="-200538" b="-17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IN" sz="1800" dirty="0">
                              <a:effectLst/>
                            </a:rPr>
                            <a:t>residue = </a:t>
                          </a:r>
                          <a:r>
                            <a:rPr lang="en-IN" sz="1800" dirty="0" err="1">
                              <a:effectLst/>
                            </a:rPr>
                            <a:t>imfs</a:t>
                          </a:r>
                          <a:r>
                            <a:rPr lang="en-IN" sz="1800" dirty="0">
                              <a:effectLst/>
                            </a:rPr>
                            <a:t>[-1]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058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US" sz="1800" dirty="0">
                              <a:effectLst/>
                            </a:rPr>
                            <a:t>Captures the slow thermal drift.</a:t>
                          </a:r>
                        </a:p>
                      </a:txBody>
                      <a:tcPr marL="0" marR="0" marT="7661" marB="7661" anchor="b">
                        <a:lnL w="7620" cap="flat" cmpd="sng" algn="ctr">
                          <a:solidFill>
                            <a:srgbClr val="C058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058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058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E051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0461475"/>
                      </a:ext>
                    </a:extLst>
                  </a:tr>
                  <a:tr h="838282"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IN" sz="1800" dirty="0">
                              <a:effectLst/>
                            </a:rPr>
                            <a:t>RMS Quantification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IN" sz="1800">
                              <a:effectLst/>
                            </a:rPr>
                            <a:t>np.sqrt(np.mean(noise_imf**2))</a:t>
                          </a:r>
                        </a:p>
                      </a:txBody>
                      <a:tcPr marL="11491" marR="11491" marT="7661" marB="7661" anchor="b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E051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 fontAlgn="b">
                            <a:buNone/>
                          </a:pPr>
                          <a:r>
                            <a:rPr lang="en-US" sz="1800" dirty="0">
                              <a:effectLst/>
                            </a:rPr>
                            <a:t>Converts the IMF1​ oscillation into a single noise floor value.</a:t>
                          </a:r>
                        </a:p>
                      </a:txBody>
                      <a:tcPr marL="0" marR="0" marT="7661" marB="7661" anchor="b">
                        <a:lnL w="7620" cap="flat" cmpd="sng" algn="ctr">
                          <a:solidFill>
                            <a:srgbClr val="E051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E051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E051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E0512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55956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77666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8AB0C-294D-05D1-4296-585B951C7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6107" y="156359"/>
            <a:ext cx="4090133" cy="733423"/>
          </a:xfrm>
        </p:spPr>
        <p:txBody>
          <a:bodyPr>
            <a:normAutofit/>
          </a:bodyPr>
          <a:lstStyle/>
          <a:p>
            <a:r>
              <a:rPr lang="en-IN" sz="2000" b="1" dirty="0"/>
              <a:t>Implementation – Processing Pipeline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5A2D2035-21D5-2153-6A0F-12D076C1580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7736107" y="905065"/>
                <a:ext cx="4730213" cy="22718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Step 1: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Centre data by subtracting the daily mean.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Step 2: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Clip hardware outliers at  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0.05 mV (removes -70mV spikes).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800" b="1" dirty="0">
                    <a:latin typeface="Google Sans Text"/>
                  </a:rPr>
                  <a:t>S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tep 3: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Perform EMD Sifting</a:t>
                </a:r>
                <a:r>
                  <a:rPr kumimoji="0" lang="en-US" altLang="en-US" sz="1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to extract</a:t>
                </a:r>
                <a:r>
                  <a:rPr kumimoji="0" lang="en-US" altLang="en-US" sz="18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IN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𝐼𝑀𝐹</m:t>
                        </m:r>
                      </m:e>
                      <m:sub>
                        <m:r>
                          <a:rPr kumimoji="0" lang="en-IN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Step 4: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Calculate Daily RMS Noise: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IN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0" lang="en-IN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𝑅𝑀𝑆</m:t>
                        </m:r>
                      </m:sub>
                    </m:sSub>
                    <m:r>
                      <a:rPr kumimoji="0" lang="en-IN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  </m:t>
                    </m:r>
                    <m:rad>
                      <m:radPr>
                        <m:degHide m:val="on"/>
                        <m:ctrlPr>
                          <a:rPr kumimoji="0" lang="en-IN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0" lang="en-IN" alt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en-IN" alt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IN" alt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limLoc m:val="subSup"/>
                            <m:ctrlPr>
                              <a:rPr kumimoji="0" lang="en-IN" alt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kumimoji="0" lang="en-IN" alt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0" lang="en-IN" alt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kumimoji="0" lang="en-IN" alt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kumimoji="0" lang="en-IN" altLang="en-US" sz="18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IN" altLang="en-US" sz="18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kumimoji="0" lang="en-IN" altLang="en-US" sz="18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IN" altLang="en-US" sz="18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𝐼𝑀𝐹</m:t>
                                    </m:r>
                                  </m:e>
                                  <m:sub>
                                    <m:r>
                                      <a:rPr kumimoji="0" lang="en-IN" altLang="en-US" sz="18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kumimoji="0" lang="en-IN" altLang="en-US" sz="18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en-IN" altLang="en-US" sz="1800" b="0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IN" altLang="en-US" sz="1800" b="0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kumimoji="0" lang="en-IN" altLang="en-US" sz="1800" b="0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kumimoji="0" lang="en-IN" altLang="en-US" sz="18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  <m:sup>
                                <m:r>
                                  <a:rPr kumimoji="0" lang="en-IN" altLang="en-US" sz="18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5A2D2035-21D5-2153-6A0F-12D076C158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7736107" y="905065"/>
                <a:ext cx="4730213" cy="2271840"/>
              </a:xfrm>
              <a:prstGeom prst="rect">
                <a:avLst/>
              </a:prstGeom>
              <a:blipFill>
                <a:blip r:embed="rId2"/>
                <a:stretch>
                  <a:fillRect l="-1031" t="-294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3880FC5-A35B-C4FE-3DFB-0DAD46FA9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028" y="3251132"/>
            <a:ext cx="6637972" cy="3606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155CCE-B4D3-0840-DF79-FDF1A1DA7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7548861" cy="3251132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1A17252A-8103-D3A3-B414-D80432854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627" y="4008489"/>
            <a:ext cx="4897853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It gives you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single number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that represents the stability of the sensor for the entire day.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 Case: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This is what you put in your summary table to show that the sensor's noise floor is roughly $0.0003 \text{ mV}$.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03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4EC2-AB84-8417-E55A-1703C89BC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5202" y="315299"/>
            <a:ext cx="6250858" cy="362462"/>
          </a:xfrm>
        </p:spPr>
        <p:txBody>
          <a:bodyPr>
            <a:normAutofit fontScale="90000"/>
          </a:bodyPr>
          <a:lstStyle/>
          <a:p>
            <a:r>
              <a:rPr lang="en-IN" sz="2000" dirty="0"/>
              <a:t>Daily RMS Noise Trend in mV and Temperature Trend (°C)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6D9C9-6490-1574-3144-EA9B15A03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4" y="792688"/>
            <a:ext cx="11543071" cy="4604029"/>
          </a:xfrm>
        </p:spPr>
        <p:txBody>
          <a:bodyPr>
            <a:normAutofit/>
          </a:bodyPr>
          <a:lstStyle/>
          <a:p>
            <a:r>
              <a:rPr lang="en-US" sz="1800" b="1" dirty="0"/>
              <a:t>Metric:</a:t>
            </a:r>
            <a:r>
              <a:rPr lang="en-US" sz="1800" dirty="0"/>
              <a:t> Tracking the "Noise Floor" across four channels. </a:t>
            </a:r>
          </a:p>
          <a:p>
            <a:r>
              <a:rPr lang="en-IN" sz="1800" dirty="0"/>
              <a:t>Summary Table: 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BBED00-0DB8-65C5-3DFE-219600BC5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833462"/>
              </p:ext>
            </p:extLst>
          </p:nvPr>
        </p:nvGraphicFramePr>
        <p:xfrm>
          <a:off x="396895" y="1574938"/>
          <a:ext cx="11470640" cy="486619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88719">
                  <a:extLst>
                    <a:ext uri="{9D8B030D-6E8A-4147-A177-3AD203B41FA5}">
                      <a16:colId xmlns:a16="http://schemas.microsoft.com/office/drawing/2014/main" val="1239892481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33731999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658595877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4243255372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253454490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469788224"/>
                    </a:ext>
                  </a:extLst>
                </a:gridCol>
                <a:gridCol w="1203960">
                  <a:extLst>
                    <a:ext uri="{9D8B030D-6E8A-4147-A177-3AD203B41FA5}">
                      <a16:colId xmlns:a16="http://schemas.microsoft.com/office/drawing/2014/main" val="2886045318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1293085297"/>
                    </a:ext>
                  </a:extLst>
                </a:gridCol>
                <a:gridCol w="1320801">
                  <a:extLst>
                    <a:ext uri="{9D8B030D-6E8A-4147-A177-3AD203B41FA5}">
                      <a16:colId xmlns:a16="http://schemas.microsoft.com/office/drawing/2014/main" val="289114734"/>
                    </a:ext>
                  </a:extLst>
                </a:gridCol>
              </a:tblGrid>
              <a:tr h="851213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Date 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Channel 11-N RMS (mV)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Channel 12-K RMS (mV)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Channel 13-N RMS (mV)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Channel 14-S RMS (mV)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Applying with Sensitivity coefficient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35293927"/>
                  </a:ext>
                </a:extLst>
              </a:tr>
              <a:tr h="85121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Channel 11-N RMS </a:t>
                      </a:r>
                      <a:r>
                        <a:rPr lang="en-IN" sz="1600" dirty="0"/>
                        <a:t>(°C) (0.036 mv/°C)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>
                        <a:buNone/>
                      </a:pP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Channel 12-K RMS </a:t>
                      </a:r>
                      <a:r>
                        <a:rPr lang="en-IN" sz="1600" dirty="0"/>
                        <a:t>(°C)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(0.041 mv/°C)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>
                        <a:buNone/>
                      </a:pP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Channel 13-N RMS </a:t>
                      </a:r>
                      <a:r>
                        <a:rPr lang="en-IN" sz="1600" dirty="0"/>
                        <a:t>(°C)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(0.036 mv/°C)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>
                        <a:buNone/>
                      </a:pP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Channel 14-S RMS </a:t>
                      </a:r>
                      <a:r>
                        <a:rPr lang="en-IN" sz="1600" dirty="0"/>
                        <a:t>(°C)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(0.009 mv/°C)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>
                        <a:buNone/>
                      </a:pP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94011256"/>
                  </a:ext>
                </a:extLst>
              </a:tr>
              <a:tr h="35612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26-02-2026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0.00046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0.00044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0.00037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0.00052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0.012833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0.010659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0.010306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0.05756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41002604"/>
                  </a:ext>
                </a:extLst>
              </a:tr>
              <a:tr h="3474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27-02-2026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9.3E-05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0.006611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0.006244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0.005583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0.01033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70087824"/>
                  </a:ext>
                </a:extLst>
              </a:tr>
              <a:tr h="3474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28-02-2026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0.00023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0.00019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0.00011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0.006389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0.005683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0.005278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0.01256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46745292"/>
                  </a:ext>
                </a:extLst>
              </a:tr>
              <a:tr h="3474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01-03-2026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0.00018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0.00005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0.00625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0.005732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0.005083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0.00556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61569849"/>
                  </a:ext>
                </a:extLst>
              </a:tr>
              <a:tr h="3474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02-03-2026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0.00033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0.00031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0.009111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0.007537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0.007472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0.02689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19377704"/>
                  </a:ext>
                </a:extLst>
              </a:tr>
              <a:tr h="3474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03-03-2026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0.0002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0.00011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0.006972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0.006195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0.005444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0.01222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44865543"/>
                  </a:ext>
                </a:extLst>
              </a:tr>
              <a:tr h="3474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04-03-2026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0.00019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4.8E-05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0.006306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0.005805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0.005194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0.00533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17637009"/>
                  </a:ext>
                </a:extLst>
              </a:tr>
              <a:tr h="3474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05-03-2026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0.00033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0.00036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0.00054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0.00077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0.009278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0.008829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0.015056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0.08511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85550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358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EE989-E36C-FF37-073B-D69A0D27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73" y="1130853"/>
            <a:ext cx="3120060" cy="784695"/>
          </a:xfrm>
        </p:spPr>
        <p:txBody>
          <a:bodyPr>
            <a:normAutofit/>
          </a:bodyPr>
          <a:lstStyle/>
          <a:p>
            <a:r>
              <a:rPr lang="en-US" sz="2000" dirty="0"/>
              <a:t>Comparative Stability (Working Day vs. Holiday)</a:t>
            </a:r>
            <a:endParaRPr lang="en-IN" sz="2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5C94FD-51D3-0F18-D453-D8A669794E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2574" y="2056979"/>
            <a:ext cx="327246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Overlapped Feb 21 (Working Day) and Feb 22 (Holiday) to detect patterned vs. random errors.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High correlation between consecutive days confirms that the observed drift is a </a:t>
            </a:r>
            <a:r>
              <a:rPr lang="en-US" sz="1800" b="1" dirty="0"/>
              <a:t>Systematic Error</a:t>
            </a:r>
            <a:r>
              <a:rPr lang="en-US" sz="1800" dirty="0"/>
              <a:t> linked to the lab's 24-hour ambient temperature cycle.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AEB1F2-2305-CAD1-39E5-D02C18BE4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98" y="0"/>
            <a:ext cx="82001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728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1AFD-CCC1-32EE-46BD-8F8D1ED2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797" y="0"/>
            <a:ext cx="2730910" cy="873740"/>
          </a:xfrm>
        </p:spPr>
        <p:txBody>
          <a:bodyPr>
            <a:normAutofit/>
          </a:bodyPr>
          <a:lstStyle/>
          <a:p>
            <a:r>
              <a:rPr lang="en-US" sz="2000" dirty="0"/>
              <a:t>Dynamic Peak Energy &amp; Transient Detection</a:t>
            </a:r>
            <a:endParaRPr lang="en-IN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5D789B95-D271-9BD5-53A0-C421275C686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325797" y="1226432"/>
                <a:ext cx="3349850" cy="26082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Logic: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Detecting "Sudden Jumps" using numerical differentiation of the first three IMFs.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Energy Equation: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IN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kumimoji="0" lang="en-IN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𝑝𝑒𝑎𝑘</m:t>
                        </m:r>
                      </m:sub>
                    </m:sSub>
                    <m:r>
                      <a:rPr kumimoji="0" lang="en-IN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ctrlPr>
                          <a:rPr kumimoji="0" lang="en-IN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kumimoji="0" lang="en-IN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kumimoji="0" lang="en-IN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0" lang="en-IN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sSupPr>
                            <m:ctrlPr>
                              <a:rPr kumimoji="0" lang="en-IN" alt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IN" alt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kumimoji="0" lang="en-IN" altLang="en-US" sz="18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IN" altLang="en-US" sz="18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kumimoji="0" lang="en-IN" altLang="en-US" sz="18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kumimoji="0" lang="en-IN" alt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0" lang="en-IN" alt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0" lang="en-IN" alt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)]</m:t>
                            </m:r>
                          </m:e>
                          <m:sup>
                            <m:r>
                              <a:rPr kumimoji="0" lang="en-IN" altLang="en-US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Findings: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Pinpointed exact peak interference times to correlate with lab equipment activity.</a:t>
                </a:r>
              </a:p>
            </p:txBody>
          </p:sp>
        </mc:Choice>
        <mc:Fallback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5D789B95-D271-9BD5-53A0-C421275C6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325797" y="1226432"/>
                <a:ext cx="3349850" cy="2608278"/>
              </a:xfrm>
              <a:prstGeom prst="rect">
                <a:avLst/>
              </a:prstGeom>
              <a:blipFill>
                <a:blip r:embed="rId2"/>
                <a:stretch>
                  <a:fillRect l="-8545" t="-2570" b="-32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AB49414-C2F1-FECD-9A6D-A94FB2B28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277" y="0"/>
            <a:ext cx="8632723" cy="685800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3EA86CD-2F4B-551F-E250-A87DE53E5ED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5797" y="3938277"/>
            <a:ext cx="3352593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It gives you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time-series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that shows when interference happened. You are looking for the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maximum value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 that series ($argmax$).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 Case: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This is what you use to draw the vertical red line on your graph to tell your Sir: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"Look, at exactly 03:52:00, the energy spiked."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219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60CEB-E6B0-C733-D2D3-283C8F29A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284" y="365126"/>
            <a:ext cx="3301181" cy="509946"/>
          </a:xfrm>
        </p:spPr>
        <p:txBody>
          <a:bodyPr>
            <a:normAutofit/>
          </a:bodyPr>
          <a:lstStyle/>
          <a:p>
            <a:r>
              <a:rPr lang="en-IN" sz="2000" dirty="0"/>
              <a:t>Daily RMS Noise Trend in mV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50A719-4264-9C1D-9D1E-5E12D52A4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22" y="1299277"/>
            <a:ext cx="5997677" cy="453695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DA738F9-5B96-E2C6-A880-984CB5C8C4E4}"/>
              </a:ext>
            </a:extLst>
          </p:cNvPr>
          <p:cNvSpPr txBox="1">
            <a:spLocks/>
          </p:cNvSpPr>
          <p:nvPr/>
        </p:nvSpPr>
        <p:spPr>
          <a:xfrm>
            <a:off x="7676535" y="5727955"/>
            <a:ext cx="3797709" cy="5099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/>
              <a:t>Daily RMS Temperature Trend in (°C)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B19B22-657B-8971-5DDE-68F57CEEB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21771"/>
            <a:ext cx="6096001" cy="521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28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879</Words>
  <Application>Microsoft Office PowerPoint</Application>
  <PresentationFormat>Widescreen</PresentationFormat>
  <Paragraphs>153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Google Sans Text</vt:lpstr>
      <vt:lpstr>Times New Roman</vt:lpstr>
      <vt:lpstr>Office Theme</vt:lpstr>
      <vt:lpstr>Title: Noise estimation in thermocouples</vt:lpstr>
      <vt:lpstr>Metrological Framework (ISO GUM)</vt:lpstr>
      <vt:lpstr>Why use this specific equation?</vt:lpstr>
      <vt:lpstr>Implementation – Processing Pipeline</vt:lpstr>
      <vt:lpstr>Daily RMS Noise Trend in mV and Temperature Trend (°C) </vt:lpstr>
      <vt:lpstr>Comparative Stability (Working Day vs. Holiday)</vt:lpstr>
      <vt:lpstr>Dynamic Peak Energy &amp; Transient Detection</vt:lpstr>
      <vt:lpstr>Daily RMS Noise Trend in mV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Deepak Panwar</dc:creator>
  <cp:lastModifiedBy>Mr. Deepak Panwar</cp:lastModifiedBy>
  <cp:revision>2</cp:revision>
  <dcterms:created xsi:type="dcterms:W3CDTF">2026-03-10T12:03:14Z</dcterms:created>
  <dcterms:modified xsi:type="dcterms:W3CDTF">2026-03-11T11:33:11Z</dcterms:modified>
</cp:coreProperties>
</file>